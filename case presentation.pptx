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5143500"/>
  <p:notesSz cx="6858000" cy="9144000"/>
  <p:embeddedFontLst>
    <p:embeddedFont>
      <p:font typeface="Arial Bold" charset="1" panose="020B0704020202020204"/>
      <p:regular r:id="rId13"/>
    </p:embeddedFont>
    <p:embeddedFont>
      <p:font typeface="Arial" charset="1" panose="020B06040202020202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81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1696" y="2834126"/>
            <a:ext cx="8520598" cy="792604"/>
          </a:xfrm>
          <a:custGeom>
            <a:avLst/>
            <a:gdLst/>
            <a:ahLst/>
            <a:cxnLst/>
            <a:rect r="r" b="b" t="t" l="l"/>
            <a:pathLst>
              <a:path h="792604" w="8520598">
                <a:moveTo>
                  <a:pt x="0" y="0"/>
                </a:moveTo>
                <a:lnTo>
                  <a:pt x="8520598" y="0"/>
                </a:lnTo>
                <a:lnTo>
                  <a:pt x="8520598" y="792603"/>
                </a:lnTo>
                <a:lnTo>
                  <a:pt x="0" y="7926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62238" y="942346"/>
            <a:ext cx="3819525" cy="1200150"/>
          </a:xfrm>
          <a:custGeom>
            <a:avLst/>
            <a:gdLst/>
            <a:ahLst/>
            <a:cxnLst/>
            <a:rect r="r" b="b" t="t" l="l"/>
            <a:pathLst>
              <a:path h="1200150" w="3819525">
                <a:moveTo>
                  <a:pt x="0" y="0"/>
                </a:moveTo>
                <a:lnTo>
                  <a:pt x="3819524" y="0"/>
                </a:lnTo>
                <a:lnTo>
                  <a:pt x="3819524" y="1200150"/>
                </a:lnTo>
                <a:lnTo>
                  <a:pt x="0" y="1200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662238" y="942346"/>
            <a:ext cx="3819525" cy="1200150"/>
            <a:chOff x="0" y="0"/>
            <a:chExt cx="5092700" cy="1600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927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5092700">
                  <a:moveTo>
                    <a:pt x="0" y="0"/>
                  </a:moveTo>
                  <a:lnTo>
                    <a:pt x="5092700" y="0"/>
                  </a:lnTo>
                  <a:lnTo>
                    <a:pt x="5092700" y="1600200"/>
                  </a:lnTo>
                  <a:lnTo>
                    <a:pt x="0" y="160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365888" y="3192328"/>
            <a:ext cx="4412214" cy="959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3"/>
              </a:lnSpc>
              <a:spcBef>
                <a:spcPct val="0"/>
              </a:spcBef>
            </a:pPr>
            <a:r>
              <a:rPr lang="en-US" b="true" sz="136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FITFLEX – GYM CLASS SCHEDULER</a:t>
            </a:r>
          </a:p>
          <a:p>
            <a:pPr algn="ctr">
              <a:lnSpc>
                <a:spcPts val="1883"/>
              </a:lnSpc>
              <a:spcBef>
                <a:spcPct val="0"/>
              </a:spcBef>
            </a:pPr>
            <a:r>
              <a:rPr lang="en-US" sz="136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By</a:t>
            </a:r>
          </a:p>
          <a:p>
            <a:pPr algn="ctr">
              <a:lnSpc>
                <a:spcPts val="1883"/>
              </a:lnSpc>
              <a:spcBef>
                <a:spcPct val="0"/>
              </a:spcBef>
            </a:pPr>
            <a:r>
              <a:rPr lang="en-US" sz="136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Pallavi Sarovar</a:t>
            </a:r>
          </a:p>
          <a:p>
            <a:pPr algn="ctr">
              <a:lnSpc>
                <a:spcPts val="188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1696" y="445027"/>
            <a:ext cx="8520598" cy="572700"/>
          </a:xfrm>
          <a:custGeom>
            <a:avLst/>
            <a:gdLst/>
            <a:ahLst/>
            <a:cxnLst/>
            <a:rect r="r" b="b" t="t" l="l"/>
            <a:pathLst>
              <a:path h="572700" w="8520598">
                <a:moveTo>
                  <a:pt x="0" y="0"/>
                </a:moveTo>
                <a:lnTo>
                  <a:pt x="8520598" y="0"/>
                </a:lnTo>
                <a:lnTo>
                  <a:pt x="8520598" y="572700"/>
                </a:lnTo>
                <a:lnTo>
                  <a:pt x="0" y="572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8202" y="1088974"/>
            <a:ext cx="8647595" cy="3884895"/>
          </a:xfrm>
          <a:custGeom>
            <a:avLst/>
            <a:gdLst/>
            <a:ahLst/>
            <a:cxnLst/>
            <a:rect r="r" b="b" t="t" l="l"/>
            <a:pathLst>
              <a:path h="3884895" w="8647595">
                <a:moveTo>
                  <a:pt x="0" y="0"/>
                </a:moveTo>
                <a:lnTo>
                  <a:pt x="8647596" y="0"/>
                </a:lnTo>
                <a:lnTo>
                  <a:pt x="8647596" y="3884895"/>
                </a:lnTo>
                <a:lnTo>
                  <a:pt x="0" y="38848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914199" y="3992270"/>
            <a:ext cx="918096" cy="918096"/>
            <a:chOff x="0" y="0"/>
            <a:chExt cx="1224128" cy="12241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24153" cy="1224153"/>
            </a:xfrm>
            <a:custGeom>
              <a:avLst/>
              <a:gdLst/>
              <a:ahLst/>
              <a:cxnLst/>
              <a:rect r="r" b="b" t="t" l="l"/>
              <a:pathLst>
                <a:path h="1224153" w="1224153">
                  <a:moveTo>
                    <a:pt x="0" y="0"/>
                  </a:moveTo>
                  <a:lnTo>
                    <a:pt x="1224153" y="0"/>
                  </a:lnTo>
                  <a:lnTo>
                    <a:pt x="1224153" y="1224153"/>
                  </a:lnTo>
                  <a:lnTo>
                    <a:pt x="0" y="12241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97421" y="524161"/>
            <a:ext cx="851687" cy="44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7"/>
              </a:lnSpc>
            </a:pPr>
            <a:r>
              <a:rPr lang="en-US" b="true" sz="2519">
                <a:solidFill>
                  <a:srgbClr val="A81B50"/>
                </a:solidFill>
                <a:latin typeface="Arial Bold"/>
                <a:ea typeface="Arial Bold"/>
                <a:cs typeface="Arial Bold"/>
                <a:sym typeface="Arial Bold"/>
              </a:rPr>
              <a:t>Index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7421" y="683752"/>
            <a:ext cx="2641242" cy="1990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</a:p>
          <a:p>
            <a:pPr algn="l">
              <a:lnSpc>
                <a:spcPts val="2234"/>
              </a:lnSpc>
            </a:pPr>
          </a:p>
          <a:p>
            <a:pPr algn="l">
              <a:lnSpc>
                <a:spcPts val="2234"/>
              </a:lnSpc>
            </a:pPr>
            <a:r>
              <a:rPr lang="en-US" sz="1619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1. Problem Statement</a:t>
            </a:r>
          </a:p>
          <a:p>
            <a:pPr algn="l">
              <a:lnSpc>
                <a:spcPts val="2234"/>
              </a:lnSpc>
            </a:pPr>
            <a:r>
              <a:rPr lang="en-US" sz="1619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2. Solution</a:t>
            </a:r>
          </a:p>
          <a:p>
            <a:pPr algn="l">
              <a:lnSpc>
                <a:spcPts val="2234"/>
              </a:lnSpc>
            </a:pPr>
            <a:r>
              <a:rPr lang="en-US" sz="1619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3. Working (Method / System Flow)</a:t>
            </a:r>
          </a:p>
          <a:p>
            <a:pPr algn="l">
              <a:lnSpc>
                <a:spcPts val="2234"/>
              </a:lnSpc>
            </a:pPr>
            <a:r>
              <a:rPr lang="en-US" sz="1619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4. Conclusion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A81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5334" y="747172"/>
            <a:ext cx="7121079" cy="360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  <a:spcBef>
                <a:spcPct val="0"/>
              </a:spcBef>
            </a:pPr>
            <a:r>
              <a:rPr lang="en-US" b="true" sz="161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</a:t>
            </a:r>
          </a:p>
          <a:p>
            <a:pPr algn="l">
              <a:lnSpc>
                <a:spcPts val="2234"/>
              </a:lnSpc>
              <a:spcBef>
                <a:spcPct val="0"/>
              </a:spcBef>
            </a:pPr>
          </a:p>
          <a:p>
            <a:pPr algn="l">
              <a:lnSpc>
                <a:spcPts val="2234"/>
              </a:lnSpc>
              <a:spcBef>
                <a:spcPct val="0"/>
              </a:spcBef>
            </a:pPr>
            <a:r>
              <a:rPr lang="en-US" sz="161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Fitness studios require an efficient system to manage</a:t>
            </a:r>
          </a:p>
          <a:p>
            <a:pPr algn="l">
              <a:lnSpc>
                <a:spcPts val="2234"/>
              </a:lnSpc>
              <a:spcBef>
                <a:spcPct val="0"/>
              </a:spcBef>
            </a:pPr>
            <a:r>
              <a:rPr lang="en-US" sz="161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class schedules and bookings.</a:t>
            </a:r>
          </a:p>
          <a:p>
            <a:pPr algn="l">
              <a:lnSpc>
                <a:spcPts val="2234"/>
              </a:lnSpc>
              <a:spcBef>
                <a:spcPct val="0"/>
              </a:spcBef>
            </a:pPr>
          </a:p>
          <a:p>
            <a:pPr algn="l">
              <a:lnSpc>
                <a:spcPts val="2234"/>
              </a:lnSpc>
              <a:spcBef>
                <a:spcPct val="0"/>
              </a:spcBef>
            </a:pPr>
            <a:r>
              <a:rPr lang="en-US" b="true" sz="161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Manual booking systems can cause:</a:t>
            </a:r>
          </a:p>
          <a:p>
            <a:pPr algn="l">
              <a:lnSpc>
                <a:spcPts val="2234"/>
              </a:lnSpc>
              <a:spcBef>
                <a:spcPct val="0"/>
              </a:spcBef>
            </a:pPr>
            <a:r>
              <a:rPr lang="en-US" sz="161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Difficulty tracking available spots</a:t>
            </a:r>
          </a:p>
          <a:p>
            <a:pPr algn="l">
              <a:lnSpc>
                <a:spcPts val="2234"/>
              </a:lnSpc>
              <a:spcBef>
                <a:spcPct val="0"/>
              </a:spcBef>
            </a:pPr>
            <a:r>
              <a:rPr lang="en-US" sz="161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Inefficient scheduling</a:t>
            </a:r>
          </a:p>
          <a:p>
            <a:pPr algn="l">
              <a:lnSpc>
                <a:spcPts val="2234"/>
              </a:lnSpc>
              <a:spcBef>
                <a:spcPct val="0"/>
              </a:spcBef>
            </a:pPr>
            <a:r>
              <a:rPr lang="en-US" sz="161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Lack of real-time updates</a:t>
            </a:r>
          </a:p>
          <a:p>
            <a:pPr algn="l">
              <a:lnSpc>
                <a:spcPts val="2234"/>
              </a:lnSpc>
              <a:spcBef>
                <a:spcPct val="0"/>
              </a:spcBef>
            </a:pPr>
          </a:p>
          <a:p>
            <a:pPr algn="l">
              <a:lnSpc>
                <a:spcPts val="2234"/>
              </a:lnSpc>
              <a:spcBef>
                <a:spcPct val="0"/>
              </a:spcBef>
            </a:pPr>
            <a:r>
              <a:rPr lang="en-US" b="true" sz="161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The goal is to create a digital system that allows</a:t>
            </a:r>
          </a:p>
          <a:p>
            <a:pPr algn="l">
              <a:lnSpc>
                <a:spcPts val="2234"/>
              </a:lnSpc>
              <a:spcBef>
                <a:spcPct val="0"/>
              </a:spcBef>
            </a:pPr>
            <a:r>
              <a:rPr lang="en-US" sz="161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users to view schedules, filter classes, and book</a:t>
            </a:r>
          </a:p>
          <a:p>
            <a:pPr algn="l">
              <a:lnSpc>
                <a:spcPts val="2234"/>
              </a:lnSpc>
              <a:spcBef>
                <a:spcPct val="0"/>
              </a:spcBef>
            </a:pPr>
            <a:r>
              <a:rPr lang="en-US" sz="161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fitness sessions easily.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81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3399" y="661186"/>
            <a:ext cx="6882625" cy="3877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  <a:spcBef>
                <a:spcPct val="0"/>
              </a:spcBef>
            </a:pPr>
            <a:r>
              <a:rPr lang="en-US" b="true" sz="161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Solution</a:t>
            </a:r>
          </a:p>
          <a:p>
            <a:pPr algn="l">
              <a:lnSpc>
                <a:spcPts val="2234"/>
              </a:lnSpc>
              <a:spcBef>
                <a:spcPct val="0"/>
              </a:spcBef>
            </a:pPr>
          </a:p>
          <a:p>
            <a:pPr algn="l">
              <a:lnSpc>
                <a:spcPts val="2234"/>
              </a:lnSpc>
              <a:spcBef>
                <a:spcPct val="0"/>
              </a:spcBef>
            </a:pPr>
            <a:r>
              <a:rPr lang="en-US" sz="161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FitFlex – Gym Class Scheduler is a web application</a:t>
            </a:r>
          </a:p>
          <a:p>
            <a:pPr algn="l">
              <a:lnSpc>
                <a:spcPts val="2234"/>
              </a:lnSpc>
              <a:spcBef>
                <a:spcPct val="0"/>
              </a:spcBef>
            </a:pPr>
            <a:r>
              <a:rPr lang="en-US" sz="161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developed using HTML, CSS, and JavaScript to</a:t>
            </a:r>
          </a:p>
          <a:p>
            <a:pPr algn="l">
              <a:lnSpc>
                <a:spcPts val="2234"/>
              </a:lnSpc>
              <a:spcBef>
                <a:spcPct val="0"/>
              </a:spcBef>
            </a:pPr>
            <a:r>
              <a:rPr lang="en-US" sz="161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manage fitness class bookings.</a:t>
            </a:r>
          </a:p>
          <a:p>
            <a:pPr algn="l">
              <a:lnSpc>
                <a:spcPts val="2234"/>
              </a:lnSpc>
              <a:spcBef>
                <a:spcPct val="0"/>
              </a:spcBef>
            </a:pPr>
          </a:p>
          <a:p>
            <a:pPr algn="l">
              <a:lnSpc>
                <a:spcPts val="2234"/>
              </a:lnSpc>
              <a:spcBef>
                <a:spcPct val="0"/>
              </a:spcBef>
            </a:pPr>
            <a:r>
              <a:rPr lang="en-US" b="true" sz="161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Key Features:</a:t>
            </a:r>
          </a:p>
          <a:p>
            <a:pPr algn="l">
              <a:lnSpc>
                <a:spcPts val="2234"/>
              </a:lnSpc>
              <a:spcBef>
                <a:spcPct val="0"/>
              </a:spcBef>
            </a:pPr>
          </a:p>
          <a:p>
            <a:pPr algn="l">
              <a:lnSpc>
                <a:spcPts val="2234"/>
              </a:lnSpc>
              <a:spcBef>
                <a:spcPct val="0"/>
              </a:spcBef>
            </a:pPr>
            <a:r>
              <a:rPr lang="en-US" sz="161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Weekly class schedule</a:t>
            </a:r>
          </a:p>
          <a:p>
            <a:pPr algn="l">
              <a:lnSpc>
                <a:spcPts val="2234"/>
              </a:lnSpc>
              <a:spcBef>
                <a:spcPct val="0"/>
              </a:spcBef>
            </a:pPr>
            <a:r>
              <a:rPr lang="en-US" sz="161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Difficulty based class filtering</a:t>
            </a:r>
          </a:p>
          <a:p>
            <a:pPr algn="l">
              <a:lnSpc>
                <a:spcPts val="2234"/>
              </a:lnSpc>
              <a:spcBef>
                <a:spcPct val="0"/>
              </a:spcBef>
            </a:pPr>
            <a:r>
              <a:rPr lang="en-US" sz="161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Class capacity tracking</a:t>
            </a:r>
          </a:p>
          <a:p>
            <a:pPr algn="l">
              <a:lnSpc>
                <a:spcPts val="2234"/>
              </a:lnSpc>
              <a:spcBef>
                <a:spcPct val="0"/>
              </a:spcBef>
            </a:pPr>
            <a:r>
              <a:rPr lang="en-US" sz="161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Instructor profile page</a:t>
            </a:r>
          </a:p>
          <a:p>
            <a:pPr algn="l">
              <a:lnSpc>
                <a:spcPts val="2234"/>
              </a:lnSpc>
              <a:spcBef>
                <a:spcPct val="0"/>
              </a:spcBef>
            </a:pPr>
            <a:r>
              <a:rPr lang="en-US" sz="161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Online booking form</a:t>
            </a:r>
          </a:p>
          <a:p>
            <a:pPr algn="l">
              <a:lnSpc>
                <a:spcPts val="2234"/>
              </a:lnSpc>
              <a:spcBef>
                <a:spcPct val="0"/>
              </a:spcBef>
            </a:pPr>
            <a:r>
              <a:rPr lang="en-US" sz="161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Discount calculation feature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737088" y="1954943"/>
            <a:ext cx="3790942" cy="2464112"/>
          </a:xfrm>
          <a:custGeom>
            <a:avLst/>
            <a:gdLst/>
            <a:ahLst/>
            <a:cxnLst/>
            <a:rect r="r" b="b" t="t" l="l"/>
            <a:pathLst>
              <a:path h="2464112" w="3790942">
                <a:moveTo>
                  <a:pt x="0" y="0"/>
                </a:moveTo>
                <a:lnTo>
                  <a:pt x="3790942" y="0"/>
                </a:lnTo>
                <a:lnTo>
                  <a:pt x="3790942" y="2464112"/>
                </a:lnTo>
                <a:lnTo>
                  <a:pt x="0" y="24641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dash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81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4350" y="544370"/>
            <a:ext cx="7264378" cy="4007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9"/>
              </a:lnSpc>
              <a:spcBef>
                <a:spcPct val="0"/>
              </a:spcBef>
            </a:pPr>
            <a:r>
              <a:rPr lang="en-US" b="true" sz="1613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Working of the System</a:t>
            </a:r>
          </a:p>
          <a:p>
            <a:pPr algn="l">
              <a:lnSpc>
                <a:spcPts val="2259"/>
              </a:lnSpc>
              <a:spcBef>
                <a:spcPct val="0"/>
              </a:spcBef>
            </a:pPr>
          </a:p>
          <a:p>
            <a:pPr algn="l">
              <a:lnSpc>
                <a:spcPts val="2259"/>
              </a:lnSpc>
              <a:spcBef>
                <a:spcPct val="0"/>
              </a:spcBef>
            </a:pPr>
            <a:r>
              <a:rPr lang="en-US" sz="161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User opens the schedule page</a:t>
            </a:r>
          </a:p>
          <a:p>
            <a:pPr algn="l">
              <a:lnSpc>
                <a:spcPts val="2259"/>
              </a:lnSpc>
              <a:spcBef>
                <a:spcPct val="0"/>
              </a:spcBef>
            </a:pPr>
            <a:r>
              <a:rPr lang="en-US" sz="161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User views available classes</a:t>
            </a:r>
          </a:p>
          <a:p>
            <a:pPr algn="l">
              <a:lnSpc>
                <a:spcPts val="2259"/>
              </a:lnSpc>
              <a:spcBef>
                <a:spcPct val="0"/>
              </a:spcBef>
            </a:pPr>
            <a:r>
              <a:rPr lang="en-US" sz="161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User selects a class</a:t>
            </a:r>
          </a:p>
          <a:p>
            <a:pPr algn="l">
              <a:lnSpc>
                <a:spcPts val="2259"/>
              </a:lnSpc>
              <a:spcBef>
                <a:spcPct val="0"/>
              </a:spcBef>
            </a:pPr>
            <a:r>
              <a:rPr lang="en-US" sz="161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 User clicks "Book Class"</a:t>
            </a:r>
          </a:p>
          <a:p>
            <a:pPr algn="l">
              <a:lnSpc>
                <a:spcPts val="2259"/>
              </a:lnSpc>
              <a:spcBef>
                <a:spcPct val="0"/>
              </a:spcBef>
            </a:pPr>
            <a:r>
              <a:rPr lang="en-US" sz="161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5. Selected class is stored using localStorage</a:t>
            </a:r>
          </a:p>
          <a:p>
            <a:pPr algn="l">
              <a:lnSpc>
                <a:spcPts val="2259"/>
              </a:lnSpc>
              <a:spcBef>
                <a:spcPct val="0"/>
              </a:spcBef>
            </a:pPr>
            <a:r>
              <a:rPr lang="en-US" sz="161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6. User is redirected to booking page</a:t>
            </a:r>
          </a:p>
          <a:p>
            <a:pPr algn="l">
              <a:lnSpc>
                <a:spcPts val="2259"/>
              </a:lnSpc>
              <a:spcBef>
                <a:spcPct val="0"/>
              </a:spcBef>
            </a:pPr>
            <a:r>
              <a:rPr lang="en-US" sz="161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7. User fills registration form and confirms booking</a:t>
            </a:r>
          </a:p>
          <a:p>
            <a:pPr algn="l">
              <a:lnSpc>
                <a:spcPts val="2259"/>
              </a:lnSpc>
              <a:spcBef>
                <a:spcPct val="0"/>
              </a:spcBef>
            </a:pPr>
          </a:p>
          <a:p>
            <a:pPr algn="l">
              <a:lnSpc>
                <a:spcPts val="2259"/>
              </a:lnSpc>
              <a:spcBef>
                <a:spcPct val="0"/>
              </a:spcBef>
            </a:pPr>
            <a:r>
              <a:rPr lang="en-US" b="true" sz="1613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Technologies Used:</a:t>
            </a:r>
          </a:p>
          <a:p>
            <a:pPr algn="l">
              <a:lnSpc>
                <a:spcPts val="2259"/>
              </a:lnSpc>
              <a:spcBef>
                <a:spcPct val="0"/>
              </a:spcBef>
            </a:pPr>
            <a:r>
              <a:rPr lang="en-US" sz="161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HTML</a:t>
            </a:r>
          </a:p>
          <a:p>
            <a:pPr algn="l">
              <a:lnSpc>
                <a:spcPts val="2259"/>
              </a:lnSpc>
              <a:spcBef>
                <a:spcPct val="0"/>
              </a:spcBef>
            </a:pPr>
            <a:r>
              <a:rPr lang="en-US" sz="161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CSS</a:t>
            </a:r>
          </a:p>
          <a:p>
            <a:pPr algn="l">
              <a:lnSpc>
                <a:spcPts val="2259"/>
              </a:lnSpc>
              <a:spcBef>
                <a:spcPct val="0"/>
              </a:spcBef>
            </a:pPr>
            <a:r>
              <a:rPr lang="en-US" sz="161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JavaScript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5353533" y="362863"/>
            <a:ext cx="3441789" cy="2110138"/>
          </a:xfrm>
          <a:custGeom>
            <a:avLst/>
            <a:gdLst/>
            <a:ahLst/>
            <a:cxnLst/>
            <a:rect r="r" b="b" t="t" l="l"/>
            <a:pathLst>
              <a:path h="2110138" w="3441789">
                <a:moveTo>
                  <a:pt x="0" y="0"/>
                </a:moveTo>
                <a:lnTo>
                  <a:pt x="3441789" y="0"/>
                </a:lnTo>
                <a:lnTo>
                  <a:pt x="3441789" y="2110139"/>
                </a:lnTo>
                <a:lnTo>
                  <a:pt x="0" y="21101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009" r="0" b="-3009"/>
            </a:stretch>
          </a:blipFill>
          <a:ln cap="sq">
            <a:noFill/>
            <a:prstDash val="dash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5353533" y="2746384"/>
            <a:ext cx="3441789" cy="2110138"/>
          </a:xfrm>
          <a:custGeom>
            <a:avLst/>
            <a:gdLst/>
            <a:ahLst/>
            <a:cxnLst/>
            <a:rect r="r" b="b" t="t" l="l"/>
            <a:pathLst>
              <a:path h="2110138" w="3441789">
                <a:moveTo>
                  <a:pt x="0" y="0"/>
                </a:moveTo>
                <a:lnTo>
                  <a:pt x="3441789" y="0"/>
                </a:lnTo>
                <a:lnTo>
                  <a:pt x="3441789" y="2110138"/>
                </a:lnTo>
                <a:lnTo>
                  <a:pt x="0" y="21101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009" r="0" b="-3009"/>
            </a:stretch>
          </a:blipFill>
          <a:ln cap="sq">
            <a:noFill/>
            <a:prstDash val="dash"/>
            <a:miter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A81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0688" y="687330"/>
            <a:ext cx="7474854" cy="372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  <a:spcBef>
                <a:spcPct val="0"/>
              </a:spcBef>
            </a:pPr>
            <a:r>
              <a:rPr lang="en-US" b="true" sz="162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Conclusion</a:t>
            </a:r>
          </a:p>
          <a:p>
            <a:pPr algn="l">
              <a:lnSpc>
                <a:spcPts val="2268"/>
              </a:lnSpc>
              <a:spcBef>
                <a:spcPct val="0"/>
              </a:spcBef>
            </a:pPr>
          </a:p>
          <a:p>
            <a:pPr algn="l">
              <a:lnSpc>
                <a:spcPts val="2268"/>
              </a:lnSpc>
              <a:spcBef>
                <a:spcPct val="0"/>
              </a:spcBef>
            </a:pPr>
            <a:r>
              <a:rPr lang="en-US" sz="16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FitFlex Gym Class Scheduler successfully</a:t>
            </a:r>
          </a:p>
          <a:p>
            <a:pPr algn="l">
              <a:lnSpc>
                <a:spcPts val="2268"/>
              </a:lnSpc>
              <a:spcBef>
                <a:spcPct val="0"/>
              </a:spcBef>
            </a:pPr>
            <a:r>
              <a:rPr lang="en-US" sz="16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demonstrates a functional front-end booking system.</a:t>
            </a:r>
          </a:p>
          <a:p>
            <a:pPr algn="l">
              <a:lnSpc>
                <a:spcPts val="2268"/>
              </a:lnSpc>
              <a:spcBef>
                <a:spcPct val="0"/>
              </a:spcBef>
            </a:pPr>
          </a:p>
          <a:p>
            <a:pPr algn="l">
              <a:lnSpc>
                <a:spcPts val="2268"/>
              </a:lnSpc>
              <a:spcBef>
                <a:spcPct val="0"/>
              </a:spcBef>
            </a:pPr>
            <a:r>
              <a:rPr lang="en-US" b="true" sz="162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The application allows users to:</a:t>
            </a:r>
          </a:p>
          <a:p>
            <a:pPr algn="l">
              <a:lnSpc>
                <a:spcPts val="2268"/>
              </a:lnSpc>
              <a:spcBef>
                <a:spcPct val="0"/>
              </a:spcBef>
            </a:pPr>
            <a:r>
              <a:rPr lang="en-US" b="true" sz="162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• </a:t>
            </a:r>
            <a:r>
              <a:rPr lang="en-US" sz="16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View schedules</a:t>
            </a:r>
          </a:p>
          <a:p>
            <a:pPr algn="l">
              <a:lnSpc>
                <a:spcPts val="2268"/>
              </a:lnSpc>
              <a:spcBef>
                <a:spcPct val="0"/>
              </a:spcBef>
            </a:pPr>
            <a:r>
              <a:rPr lang="en-US" sz="16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Filter classes</a:t>
            </a:r>
          </a:p>
          <a:p>
            <a:pPr algn="l">
              <a:lnSpc>
                <a:spcPts val="2268"/>
              </a:lnSpc>
              <a:spcBef>
                <a:spcPct val="0"/>
              </a:spcBef>
            </a:pPr>
            <a:r>
              <a:rPr lang="en-US" sz="16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Track available spots</a:t>
            </a:r>
          </a:p>
          <a:p>
            <a:pPr algn="l">
              <a:lnSpc>
                <a:spcPts val="2268"/>
              </a:lnSpc>
              <a:spcBef>
                <a:spcPct val="0"/>
              </a:spcBef>
            </a:pPr>
            <a:r>
              <a:rPr lang="en-US" sz="16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Register for fitness sessions</a:t>
            </a:r>
          </a:p>
          <a:p>
            <a:pPr algn="l">
              <a:lnSpc>
                <a:spcPts val="2268"/>
              </a:lnSpc>
              <a:spcBef>
                <a:spcPct val="0"/>
              </a:spcBef>
            </a:pPr>
          </a:p>
          <a:p>
            <a:pPr algn="l">
              <a:lnSpc>
                <a:spcPts val="2268"/>
              </a:lnSpc>
              <a:spcBef>
                <a:spcPct val="0"/>
              </a:spcBef>
            </a:pPr>
            <a:r>
              <a:rPr lang="en-US" sz="16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project shows how HTML, CSS, and JavaScript</a:t>
            </a:r>
          </a:p>
          <a:p>
            <a:pPr algn="l">
              <a:lnSpc>
                <a:spcPts val="2268"/>
              </a:lnSpc>
              <a:spcBef>
                <a:spcPct val="0"/>
              </a:spcBef>
            </a:pPr>
            <a:r>
              <a:rPr lang="en-US" sz="16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can be used to create interactive web applications</a:t>
            </a:r>
            <a:r>
              <a:rPr lang="en-US" b="true" sz="162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81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1696" y="2834126"/>
            <a:ext cx="8520598" cy="792604"/>
          </a:xfrm>
          <a:custGeom>
            <a:avLst/>
            <a:gdLst/>
            <a:ahLst/>
            <a:cxnLst/>
            <a:rect r="r" b="b" t="t" l="l"/>
            <a:pathLst>
              <a:path h="792604" w="8520598">
                <a:moveTo>
                  <a:pt x="0" y="0"/>
                </a:moveTo>
                <a:lnTo>
                  <a:pt x="8520598" y="0"/>
                </a:lnTo>
                <a:lnTo>
                  <a:pt x="8520598" y="792603"/>
                </a:lnTo>
                <a:lnTo>
                  <a:pt x="0" y="7926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62238" y="942346"/>
            <a:ext cx="3819525" cy="1200150"/>
          </a:xfrm>
          <a:custGeom>
            <a:avLst/>
            <a:gdLst/>
            <a:ahLst/>
            <a:cxnLst/>
            <a:rect r="r" b="b" t="t" l="l"/>
            <a:pathLst>
              <a:path h="1200150" w="3819525">
                <a:moveTo>
                  <a:pt x="0" y="0"/>
                </a:moveTo>
                <a:lnTo>
                  <a:pt x="3819524" y="0"/>
                </a:lnTo>
                <a:lnTo>
                  <a:pt x="3819524" y="1200150"/>
                </a:lnTo>
                <a:lnTo>
                  <a:pt x="0" y="1200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662238" y="942346"/>
            <a:ext cx="3819525" cy="1200150"/>
            <a:chOff x="0" y="0"/>
            <a:chExt cx="5092700" cy="1600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927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5092700">
                  <a:moveTo>
                    <a:pt x="0" y="0"/>
                  </a:moveTo>
                  <a:lnTo>
                    <a:pt x="5092700" y="0"/>
                  </a:lnTo>
                  <a:lnTo>
                    <a:pt x="5092700" y="1600200"/>
                  </a:lnTo>
                  <a:lnTo>
                    <a:pt x="0" y="160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679746" y="2910421"/>
            <a:ext cx="1818275" cy="49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DAHC9zX7ZM0</dc:identifier>
  <dcterms:modified xsi:type="dcterms:W3CDTF">2011-08-01T06:04:30Z</dcterms:modified>
  <cp:revision>1</cp:revision>
  <dc:title>Sample PPT.pdf</dc:title>
</cp:coreProperties>
</file>